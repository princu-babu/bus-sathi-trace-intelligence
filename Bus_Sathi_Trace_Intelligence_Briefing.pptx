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424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FC8AF"/>
                </a:solidFill>
                <a:latin typeface="Calibri"/>
              </a:rPr>
              <a:t>BUS SATHI  ·  TRACE INTELLIGENCE</a:t>
            </a:r>
          </a:p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Ground-Truthing the Kashmir Plan
with Real Driver GPS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5E8DF"/>
                </a:solidFill>
                <a:latin typeface="Calibri"/>
              </a:rPr>
              <a:t>What 3.8 million real GPS points from working bus drivers verified, measured,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5E8DF"/>
                </a:solidFill>
                <a:latin typeface="Calibri"/>
              </a:rPr>
              <a:t>and corrected in the route-rationalisation plan — and what they honestly cannot tell 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FBFB3"/>
                </a:solidFill>
                <a:latin typeface="Calibri"/>
              </a:rPr>
              <a:t>Kashmir Valley Route Rationalisation  ·  companion to plan v3.4.5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THE RAW MATERIAL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Every 5 seconds, a real bus told us where it was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6B"/>
                </a:solidFill>
                <a:latin typeface="Calibri"/>
              </a:rPr>
              <a:t>The Bus Sathi Android app (published on Google Play) logs a driver's position every ~5 s into Firebase.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180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volunteer drivers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self-registered via the public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168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3.8M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GPS points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~5-second sampling, Feb–Jun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1,213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recorded sessions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one session = hours of a working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90888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131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observed days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weekday + weekend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1188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02A2E"/>
                </a:solidFill>
                <a:latin typeface="Cambria"/>
              </a:rPr>
              <a:t>The catch: a recorded “trip” is NOT a bus trip.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B6B"/>
                </a:solidFill>
                <a:latin typeface="Calibri"/>
              </a:rPr>
              <a:t>Drivers leave the app running in the background — one session bundles 3–10 real service runs plus hours of parking, meals and wandering. Used naively, this data gives absurd timings. So nothing is used raw.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0060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6E56"/>
                </a:solidFill>
                <a:latin typeface="Calibri"/>
              </a:rPr>
              <a:t>Privacy by construction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A2E"/>
                </a:solidFill>
                <a:latin typeface="Calibri"/>
              </a:rPr>
              <a:t>Driver identities are SHA-256 hashed in every derived file; raw traces and credentials never leave the private data store; only aggregate, anonymised layers are published.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STEP 1 — CLEANING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From messy sessions to honest service runs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6B"/>
                </a:solidFill>
                <a:latin typeface="Calibri"/>
              </a:rPr>
              <a:t>A dwell/gap segmenter cuts each session at terminals (≥12 min stationary) and app gaps (≥8 min), then trims idle heads and tails.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2,526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real service runs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extracted from 1,200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168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2,012 h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idle time removed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parking / breaks / background noise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63 min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median real run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vs 209 min raw session wall-time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90888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13.3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km/h median run speed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realistic city-bus pace → sanity check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2A2E"/>
                </a:solidFill>
                <a:latin typeface="Calibri"/>
              </a:rPr>
              <a:t>Then every run is snapped to the road network (OSRM map-matching) and quality-gated: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79392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6E56"/>
                </a:solidFill>
                <a:latin typeface="Calibri"/>
              </a:rPr>
              <a:t>2,519 / 2,526 runs matched to roads   </a:t>
            </a:r>
            <a:r>
              <a:rPr sz="1250">
                <a:solidFill>
                  <a:srgbClr val="5B6B6B"/>
                </a:solidFill>
                <a:latin typeface="Calibri"/>
              </a:rPr>
              <a:t>raw-vs-matched length agreement used as the gate — median 0.99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01768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6E56"/>
                </a:solidFill>
                <a:latin typeface="Calibri"/>
              </a:rPr>
              <a:t>2,426 runs pass as “clean”   </a:t>
            </a:r>
            <a:r>
              <a:rPr sz="1250">
                <a:solidFill>
                  <a:srgbClr val="5B6B6B"/>
                </a:solidFill>
                <a:latin typeface="Calibri"/>
              </a:rPr>
              <a:t>these are the only runs any downstream claim is built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43016"/>
            <a:ext cx="11155680" cy="713232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F6E56"/>
                </a:solidFill>
                <a:latin typeface="Calibri"/>
              </a:rPr>
              <a:t>38,431 stop-dwell events kept   </a:t>
            </a:r>
            <a:r>
              <a:rPr sz="1250">
                <a:solidFill>
                  <a:srgbClr val="5B6B6B"/>
                </a:solidFill>
                <a:latin typeface="Calibri"/>
              </a:rPr>
              <a:t>each 40 s – 12 min stop becomes evidence for the stop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WHAT THE CLEANING LOOKS LIKE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One recorded session, ten real bus runs inside it</a:t>
            </a:r>
          </a:p>
        </p:txBody>
      </p:sp>
      <p:pic>
        <p:nvPicPr>
          <p:cNvPr id="4" name="Picture 3" descr="session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417320"/>
            <a:ext cx="10058400" cy="50193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641908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5B6B6B"/>
                </a:solidFill>
                <a:latin typeface="Calibri"/>
              </a:rPr>
              <a:t>Left: one raw Firestore session (7,906 points — a whole working day). Right: the same session decomposed into 10 idle-trimmed service runs, each with its own realistic distance and duration.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QUALITY GATE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Raw GPS (red) vs road-matched (green)</a:t>
            </a:r>
          </a:p>
        </p:txBody>
      </p:sp>
      <p:pic>
        <p:nvPicPr>
          <p:cNvPr id="4" name="Picture 3" descr="sample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298448"/>
            <a:ext cx="7178040" cy="4762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61447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5B6B6B"/>
                </a:solidFill>
                <a:latin typeface="Calibri"/>
              </a:rPr>
              <a:t>On genuine runs the matched line hugs the raw trace. The top-right panel is parked-vehicle GPS scribble — exactly what the agreement gate rejects before any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STEP 2 — VERIFICATION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18 observed corridors, each judged one by one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6B"/>
                </a:solidFill>
                <a:latin typeface="Calibri"/>
              </a:rPr>
              <a:t>Endpoint clustering (≥3 distinct drivers per terminal) grouped the clean runs into 25 corridors; the 18 with real support (≥5 runs, ≥2 drivers) each got an evidence file and an individual AI-analyst verdict.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02A2E"/>
                </a:solidFill>
                <a:latin typeface="Cambria"/>
              </a:rPr>
              <a:t>Verdicts vs the plan's routes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6720840" cy="914400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822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6E56"/>
                </a:solidFill>
                <a:latin typeface="Cambr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414016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02A2E"/>
                </a:solidFill>
                <a:latin typeface="Calibri"/>
              </a:rPr>
              <a:t>MATCH the plan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B6B"/>
                </a:solidFill>
                <a:latin typeface="Calibri"/>
              </a:rPr>
              <a:t>same corridor, same terminals — e.g. Soura–Lal Chowk = FDR-050 (211 runs)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28415"/>
            <a:ext cx="6720840" cy="914400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38144"/>
            <a:ext cx="822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D97706"/>
                </a:solidFill>
                <a:latin typeface="Cambr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456432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02A2E"/>
                </a:solidFill>
                <a:latin typeface="Calibri"/>
              </a:rPr>
              <a:t>geometry diverges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B6B"/>
                </a:solidFill>
                <a:latin typeface="Calibri"/>
              </a:rPr>
              <a:t>buses observably run a different alignment than the routed line → reconciliation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370831"/>
            <a:ext cx="6720840" cy="914400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59"/>
            <a:ext cx="822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5B6B6B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498847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02A2E"/>
                </a:solidFill>
                <a:latin typeface="Calibri"/>
              </a:rPr>
              <a:t>outside Kashmir Division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B6B"/>
                </a:solidFill>
                <a:latin typeface="Calibri"/>
              </a:rPr>
              <a:t>NH-44 / Jammu traffic — correctly excluded by the district clip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13247"/>
            <a:ext cx="6720840" cy="914400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22975"/>
            <a:ext cx="822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5B6B6B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541263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02A2E"/>
                </a:solidFill>
                <a:latin typeface="Calibri"/>
              </a:rPr>
              <a:t>data artifact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B6B"/>
                </a:solidFill>
                <a:latin typeface="Calibri"/>
              </a:rPr>
              <a:t>near-stationary terminal idling; excluded and the filter 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286000"/>
            <a:ext cx="4160520" cy="4023360"/>
          </a:xfrm>
          <a:prstGeom prst="roundRect">
            <a:avLst>
              <a:gd name="adj" fmla="val 6000"/>
            </a:avLst>
          </a:prstGeom>
          <a:solidFill>
            <a:srgbClr val="0A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514600"/>
            <a:ext cx="3611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0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informal / unpermitted routes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C9E2D8"/>
                </a:solidFill>
                <a:latin typeface="Calibri"/>
              </a:rPr>
              <a:t>An early “under-permitted cluster” finding was RETRACTED after checking the raw 614-permit register — those areas are heavily permitted. The honest signal is geometry divergence, not illegal operation.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9FBFB3"/>
                </a:solidFill>
                <a:latin typeface="Calibri"/>
              </a:rPr>
              <a:t>The audit trail (verdict + correction per corridor) ships with the repo.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THE OVERLAY EVIDENCE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Observed corridor (green) laid over the plan's candidate routes</a:t>
            </a:r>
          </a:p>
        </p:txBody>
      </p:sp>
      <p:pic>
        <p:nvPicPr>
          <p:cNvPr id="4" name="Picture 3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4892040" cy="4892040"/>
          </a:xfrm>
          <a:prstGeom prst="rect">
            <a:avLst/>
          </a:prstGeom>
        </p:spPr>
      </p:pic>
      <p:pic>
        <p:nvPicPr>
          <p:cNvPr id="5" name="Picture 4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63040"/>
            <a:ext cx="489204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825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0F6E56"/>
                </a:solidFill>
                <a:latin typeface="Calibri"/>
              </a:rPr>
              <a:t>C1 — a MATCH: 211 observed runs ride exactly on permit FDR-050 (Soura–Lal Chowk).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8251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Calibri"/>
              </a:rPr>
              <a:t>C2 — a DIVERGENCE: 150 real runs (green) vs the routed lines — the alignment to reconcile.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STEP 3 — MEASUREMENT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The first measured bus speeds for Srinagar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6B"/>
                </a:solidFill>
                <a:latin typeface="Calibri"/>
              </a:rPr>
              <a:t>Not modelled, not assumed — computed from consecutive GPS fixes of buses in revenue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154680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19656"/>
            <a:ext cx="28254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21 km/h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moving speed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median while the bus is in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691640"/>
            <a:ext cx="3154680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5072" y="1819656"/>
            <a:ext cx="28254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12.5 km/h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effective speed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including every service stop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10128"/>
            <a:ext cx="3154680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38144"/>
            <a:ext cx="28254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37%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of run time at stops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boarding + waiting dwell 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310128"/>
            <a:ext cx="3154680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3438144"/>
            <a:ext cx="28254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17 vs 24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core vs periphery km/h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10,600-cell congestion heatmap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83480"/>
            <a:ext cx="6492240" cy="1417320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8"/>
            <a:ext cx="6035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02A2E"/>
                </a:solidFill>
                <a:latin typeface="Calibri"/>
              </a:rPr>
              <a:t>Why it matters: the engine's drive times come from a CAR model (55–137 km/h “free flow” here). This layer replaces that assumption with measurement — per 100 m cell, per corridor.</a:t>
            </a:r>
          </a:p>
        </p:txBody>
      </p:sp>
      <p:pic>
        <p:nvPicPr>
          <p:cNvPr id="14" name="Picture 13" descr="speed_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17320"/>
            <a:ext cx="4640342" cy="4983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60920" y="643737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5B6B6B"/>
                </a:solidFill>
                <a:latin typeface="Calibri"/>
              </a:rPr>
              <a:t>Measured speed per cell — red = congested crawl.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STEP 4 — OPERATIONS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What a driver's day actually looks like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6B"/>
                </a:solidFill>
                <a:latin typeface="Calibri"/>
              </a:rPr>
              <a:t>855 measured driver-days — duty spans, utilisation, terminal turnarounds and the shape of the service 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7.9 h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duty-day span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4.8 h of it in service = 76% utilisation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168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24 min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median terminal turn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door-to-door incl. layover (n=1,178)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824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10:20–18:15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the typical service day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ramps from 8:00, peaks 14:00–17:00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90888" y="1691640"/>
            <a:ext cx="2615184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1819656"/>
            <a:ext cx="228600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~19:00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service collapses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the observed fleet stops by evening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11155680" cy="1965960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22191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0F6E56"/>
                </a:solidFill>
                <a:latin typeface="Cambria"/>
              </a:rPr>
              <a:t>Two operational takeaways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02A2E"/>
                </a:solidFill>
                <a:latin typeface="Calibri"/>
              </a:rPr>
              <a:t>1.  Evening service is the gap. Measured in-service time collapses after ~19:00 across the observed fleet — an enforced-headway evening tier would be a visible, cheap service win.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02A2E"/>
                </a:solidFill>
                <a:latin typeface="Calibri"/>
              </a:rPr>
              <a:t>2.  The 24-minute turn is what schedulers must plan for. It includes waiting-to-fill, so a scheduled service can beat it — but any timetable assuming near-zero recovery is fiction.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CLOSING THE LOOP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Measurement corrected the plan: v3.4.5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6B"/>
                </a:solidFill>
                <a:latin typeface="Calibri"/>
              </a:rPr>
              <a:t>Five plan routes were confidently matched to observed corridors — enough evidence to re-anchor their cycle times to measured bus physics.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02A2E"/>
                </a:solidFill>
                <a:latin typeface="Cambria"/>
              </a:rPr>
              <a:t>Planned one-way time ÷ measured one-way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6675120" cy="676656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5000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2E"/>
                </a:solidFill>
                <a:latin typeface="Calibri"/>
              </a:rPr>
              <a:t>Soura – Lal Chowk (FDR-050)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211 runs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86584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0432F"/>
                </a:solidFill>
                <a:latin typeface="Cambria"/>
              </a:rPr>
              <a:t>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38658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6E56"/>
                </a:solidFill>
                <a:latin typeface="Calibri"/>
              </a:rPr>
              <a:t>5 →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26664"/>
            <a:ext cx="6675120" cy="676656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3639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2E"/>
                </a:solidFill>
                <a:latin typeface="Calibri"/>
              </a:rPr>
              <a:t>Soura – Railway Stn (FDR-262)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93 runs observed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7296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0432F"/>
                </a:solidFill>
                <a:latin typeface="Cambria"/>
              </a:rPr>
              <a:t>0.55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17296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6E56"/>
                </a:solidFill>
                <a:latin typeface="Calibri"/>
              </a:rPr>
              <a:t>4 →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13048"/>
            <a:ext cx="6675120" cy="676656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2277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2E"/>
                </a:solidFill>
                <a:latin typeface="Calibri"/>
              </a:rPr>
              <a:t>Srinagar – Pampore (FDR-370)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79 runs 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59352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0432F"/>
                </a:solidFill>
                <a:latin typeface="Cambria"/>
              </a:rPr>
              <a:t>0.51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959352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6E56"/>
                </a:solidFill>
                <a:latin typeface="Calibri"/>
              </a:rPr>
              <a:t>4 →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99432"/>
            <a:ext cx="6675120" cy="676656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2E"/>
                </a:solidFill>
                <a:latin typeface="Calibri"/>
              </a:rPr>
              <a:t>Soura – Qamarwari (FDR-270)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47 runs observed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745736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0432F"/>
                </a:solidFill>
                <a:latin typeface="Cambria"/>
              </a:rPr>
              <a:t>0.58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74573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6E56"/>
                </a:solidFill>
                <a:latin typeface="Calibri"/>
              </a:rPr>
              <a:t>4 →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85816"/>
            <a:ext cx="6675120" cy="676656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9554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2E"/>
                </a:solidFill>
                <a:latin typeface="Calibri"/>
              </a:rPr>
              <a:t>Safakadal – Jehangir Chowk (FDR-575)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40 runs observed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53212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0432F"/>
                </a:solidFill>
                <a:latin typeface="Cambria"/>
              </a:rPr>
              <a:t>0.47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5321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F6E56"/>
                </a:solidFill>
                <a:latin typeface="Calibri"/>
              </a:rPr>
              <a:t>3 →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783080"/>
            <a:ext cx="4160520" cy="4434840"/>
          </a:xfrm>
          <a:prstGeom prst="roundRect">
            <a:avLst>
              <a:gd name="adj" fmla="val 6000"/>
            </a:avLst>
          </a:prstGeom>
          <a:solidFill>
            <a:srgbClr val="0A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011680"/>
            <a:ext cx="3611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What was hiding it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D5E8DF"/>
                </a:solidFill>
                <a:latin typeface="Calibri"/>
              </a:rPr>
              <a:t>4 of the 5 routes were pinned at the engine's per-km cycle CAP — a safety heuristic that quietly clamped their cycle times below what buses measurably need.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D5E8DF"/>
                </a:solidFill>
                <a:latin typeface="Calibri"/>
              </a:rPr>
              <a:t>The fix: on directly-measured corridors, the measured moving speed replaces the car-model estimate, and the cap no longer clamps. Only those 5 routes changed.</a:t>
            </a:r>
          </a:p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Fleet 1,004 → 1,011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9FBFB3"/>
                </a:solidFill>
                <a:latin typeface="Calibri"/>
              </a:rPr>
              <a:t>+7 buses, all on GPS-verified core corridors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BONUS LAYER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An evidence-based stop inventory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B6B"/>
                </a:solidFill>
                <a:latin typeface="Calibri"/>
              </a:rPr>
              <a:t>Every 40 s – 12 min dwell is a vote for a real stopping place. Clustered, they map where buses actually stop.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154680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19656"/>
            <a:ext cx="28254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352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candidate stops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from 38,431 observed dwell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691640"/>
            <a:ext cx="3154680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5072" y="1819656"/>
            <a:ext cx="28254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215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strong stops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≥3 distinct drivers and ≥10 visits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10128"/>
            <a:ext cx="3154680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38144"/>
            <a:ext cx="28254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30%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register corroboration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of official stops in the observed footprint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310128"/>
            <a:ext cx="3154680" cy="1481328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3438144"/>
            <a:ext cx="282549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6E56"/>
                </a:solidFill>
                <a:latin typeface="Cambria"/>
              </a:rPr>
              <a:t>135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02A2E"/>
                </a:solidFill>
                <a:latin typeface="Calibri"/>
              </a:rPr>
              <a:t>enrichment candidates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B6B"/>
                </a:solidFill>
                <a:latin typeface="Calibri"/>
              </a:rPr>
              <a:t>observed stops the register doesn't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83480"/>
            <a:ext cx="6492240" cy="1417320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6035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F6E56"/>
                </a:solidFill>
                <a:latin typeface="Cambria"/>
              </a:rPr>
              <a:t>Enrichment, not indictment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02A2E"/>
                </a:solidFill>
                <a:latin typeface="Calibri"/>
              </a:rPr>
              <a:t>The register is endpoint-oriented, so mid-route stops are “new” by construction. Each candidate ships with coordinates, visits and driver support — ready for field validation.</a:t>
            </a:r>
          </a:p>
        </p:txBody>
      </p:sp>
      <p:pic>
        <p:nvPicPr>
          <p:cNvPr id="14" name="Picture 13" descr="stops_vs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417320"/>
            <a:ext cx="4975487" cy="4983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69480" y="643737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5B6B6B"/>
                </a:solidFill>
                <a:latin typeface="Calibri"/>
              </a:rPr>
              <a:t>Register (blue) vs observed stops — red = candidates.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7FC8AF"/>
                </a:solidFill>
                <a:latin typeface="Calibri"/>
              </a:rPr>
              <a:t>READ BEFORE CITING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Cambria"/>
              </a:rPr>
              <a:t>What this data cannot tell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0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Partial, self-selected adoption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9E2D8"/>
                </a:solidFill>
                <a:latin typeface="Calibri"/>
              </a:rPr>
              <a:t>~157 active drivers, Srinagar-concentrated. “No app data on a route” does NOT mean “no service”.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69464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0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60904"/>
            <a:ext cx="10607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No demand, no ridership, no frequency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9E2D8"/>
                </a:solidFill>
                <a:latin typeface="Calibri"/>
              </a:rPr>
              <a:t>The app sees vehicles, not passengers. Observed run counts reflect who installed the app — never cited as service frequency.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38728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0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0607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Corridors cover 41% of clean runs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9E2D8"/>
                </a:solidFill>
                <a:latin typeface="Calibri"/>
              </a:rPr>
              <a:t>The other 59% was decomposed and shown to be noise, loops and out-of-division traffic — but the corridor findings describe the frequently-driven core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507992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0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99431"/>
            <a:ext cx="10607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Observed times are an upper bound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9E2D8"/>
                </a:solidFill>
                <a:latin typeface="Calibri"/>
              </a:rPr>
              <a:t>They embody informal wait-to-fill practice; a scheduled, headway-enforced service should beat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77256"/>
            <a:ext cx="11155680" cy="841248"/>
          </a:xfrm>
          <a:prstGeom prst="roundRect">
            <a:avLst>
              <a:gd name="adj" fmla="val 6000"/>
            </a:avLst>
          </a:prstGeom>
          <a:solidFill>
            <a:srgbClr val="0E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68696"/>
            <a:ext cx="10607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Rural routes remain unvalidated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C9E2D8"/>
                </a:solidFill>
                <a:latin typeface="Calibri"/>
              </a:rPr>
              <a:t>Measured corrections touch 5 Srinagar-core corridors; long rural lifeline cycle times still rest on the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6E56"/>
                </a:solidFill>
                <a:latin typeface="Calibri"/>
              </a:rPr>
              <a:t>SUMMARY</a:t>
            </a:r>
          </a:p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102A2E"/>
                </a:solidFill>
                <a:latin typeface="Cambria"/>
              </a:rPr>
              <a:t>A validation layer the plan didn't have before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6858000" cy="1225296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6309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F6E56"/>
                </a:solidFill>
                <a:latin typeface="Cambria"/>
              </a:rPr>
              <a:t>Verified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A2E"/>
                </a:solidFill>
                <a:latin typeface="Calibri"/>
              </a:rPr>
              <a:t>7 plan routes confirmed running in reality; 8 geometry divergences queued for reconciliation; 0 informal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6080"/>
            <a:ext cx="6858000" cy="1225296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72384"/>
            <a:ext cx="6309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F6E56"/>
                </a:solidFill>
                <a:latin typeface="Cambria"/>
              </a:rPr>
              <a:t>Measured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A2E"/>
                </a:solidFill>
                <a:latin typeface="Calibri"/>
              </a:rPr>
              <a:t>First real bus speeds (21 / 12.5 km/h), duty cycles, 24-min turnarounds and a 10,600-cell congestion map for Srinagar.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97680"/>
            <a:ext cx="6858000" cy="1225296"/>
          </a:xfrm>
          <a:prstGeom prst="roundRect">
            <a:avLst>
              <a:gd name="adj" fmla="val 6000"/>
            </a:avLst>
          </a:prstGeom>
          <a:solidFill>
            <a:srgbClr val="E9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443984"/>
            <a:ext cx="6309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F6E56"/>
                </a:solidFill>
                <a:latin typeface="Cambria"/>
              </a:rPr>
              <a:t>Corrected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02A2E"/>
                </a:solidFill>
                <a:latin typeface="Calibri"/>
              </a:rPr>
              <a:t>5 GPS-verified corridors re-anchored to measured physics → plan v3.4.5 (1,011 buses), with the audit trail published.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3977639" cy="2880360"/>
          </a:xfrm>
          <a:prstGeom prst="roundRect">
            <a:avLst>
              <a:gd name="adj" fmla="val 6000"/>
            </a:avLst>
          </a:prstGeom>
          <a:solidFill>
            <a:srgbClr val="0A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783080"/>
            <a:ext cx="342900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To make this decisive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D5E8DF"/>
                </a:solidFill>
                <a:latin typeface="Calibri"/>
              </a:rPr>
              <a:t>1.  Broader driver adoption — every new driver hardens every layer.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D5E8DF"/>
                </a:solidFill>
                <a:latin typeface="Calibri"/>
              </a:rPr>
              <a:t>2.  The RTO's surveyed stop register — to confirm the 135 candidates.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D5E8DF"/>
                </a:solidFill>
                <a:latin typeface="Calibri"/>
              </a:rPr>
              <a:t>3.  AFC / ticketing data — the missing demand half no GPS can supply.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5B6B6B"/>
                </a:solidFill>
                <a:latin typeface="Calibri"/>
              </a:rPr>
              <a:t>Repo: github.com/Princu-Babu/bus-sathi-trace-intelligence  ·  full method, audit log and reality-check tables committed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