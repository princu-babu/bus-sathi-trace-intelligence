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424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FC8AF"/>
                </a:solidFill>
                <a:latin typeface="Calibri"/>
              </a:rPr>
              <a:t>BUS SATHI  ·  TRACE INTELLIGENCE</a:t>
            </a:r>
          </a:p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Ground-Truthing the Kashmir Plan
with Real Driver GPS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D5E8DF"/>
                </a:solidFill>
                <a:latin typeface="Calibri"/>
              </a:rPr>
              <a:t>What 3.8 million real GPS points from working bus drivers verified, measured,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D5E8DF"/>
                </a:solidFill>
                <a:latin typeface="Calibri"/>
              </a:rPr>
              <a:t>and corrected in the route-rationalisation plan — and what they honestly cannot tell 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FBFB3"/>
                </a:solidFill>
                <a:latin typeface="Calibri"/>
              </a:rPr>
              <a:t>Kashmir Valley Route Rationalisation  ·  companion to plan v3.4.5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THE RAW MATERIAL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Every 5 seconds, a real bus told us where it was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The Bus Sathi Android app (published on Google Play) logs a driver's position every ~5 s into Firebase.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180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volunteer drivers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self-registered via the public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3.8M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GPS points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~5-second sampling, Feb–Jun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1,213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recorded sessions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one session = hours of a working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131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observed days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weekday + weekend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1188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02A2E"/>
                </a:solidFill>
                <a:latin typeface="Cambria"/>
              </a:rPr>
              <a:t>The catch: a recorded “trip” is NOT a bus trip.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B6B6B"/>
                </a:solidFill>
                <a:latin typeface="Calibri"/>
              </a:rPr>
              <a:t>Drivers leave the app running in the background — one session bundles 3–10 real service runs plus hours of parking, meals and wandering. Used naively, this data gives absurd timings. So nothing is used raw.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15568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Privacy by construction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Driver identities are SHA-256 hashed in every derived file; raw traces and credentials never leave the private data store; only aggregate, anonymised layers are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1 — CLEANING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From messy sessions to honest service runs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A dwell/gap segmenter cuts each session at terminals (≥12 min stationary) and app gaps (≥8 min), then trims idle heads and tails.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2,526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real service runs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extracted from 1,200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2,012 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idle time removed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parking / breaks / background noise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63 min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median real run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vs 209 min raw session wall-time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13.3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km/h median run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realistic city-bus pace → sanity check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2A2E"/>
                </a:solidFill>
                <a:latin typeface="Calibri"/>
              </a:rPr>
              <a:t>Then every run is snapped to the road network (OSRM map-matching) and quality-gated: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60520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79392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2,519 / 2,526 runs matched to roads   </a:t>
            </a:r>
            <a:r>
              <a:rPr sz="1250">
                <a:solidFill>
                  <a:srgbClr val="5B6B6B"/>
                </a:solidFill>
                <a:latin typeface="Calibri"/>
              </a:rPr>
              <a:t>raw-vs-matched length agreement used as the gate — median 0.99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01768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2,426 runs pass as “clean”   </a:t>
            </a:r>
            <a:r>
              <a:rPr sz="1250">
                <a:solidFill>
                  <a:srgbClr val="5B6B6B"/>
                </a:solidFill>
                <a:latin typeface="Calibri"/>
              </a:rPr>
              <a:t>these are the only runs any downstream claim is built 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43016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38,431 stop-dwell events kept   </a:t>
            </a:r>
            <a:r>
              <a:rPr sz="1250">
                <a:solidFill>
                  <a:srgbClr val="5B6B6B"/>
                </a:solidFill>
                <a:latin typeface="Calibri"/>
              </a:rPr>
              <a:t>each 40 s – 12 min stop becomes evidence for the stop inventory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WHAT THE CLEANING LOOKS LIKE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One recorded session, ten real bus runs inside it</a:t>
            </a:r>
          </a:p>
        </p:txBody>
      </p:sp>
      <p:pic>
        <p:nvPicPr>
          <p:cNvPr id="4" name="Picture 3" descr="sessio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17320"/>
            <a:ext cx="10058400" cy="50193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641908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Left: one raw Firestore session (7,906 points — a whole working day). Right: the same session decomposed into 10 idle-trimmed service runs, each with its own realistic distance and duration.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QUALITY GATE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Raw GPS (red) vs road-matched (green)</a:t>
            </a:r>
          </a:p>
        </p:txBody>
      </p:sp>
      <p:pic>
        <p:nvPicPr>
          <p:cNvPr id="4" name="Picture 3" descr="sampl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298448"/>
            <a:ext cx="7178040" cy="4762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6144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On genuine runs the matched line hugs the raw trace. The top-right panel is parked-vehicle GPS scribble — exactly what the agreement gate rejects before any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2 — VERIFICATION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18 observed corridors, each judged one by one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Endpoint clustering (≥3 distinct drivers per terminal) grouped the clean runs into 25 corridors; the 18 with real support (≥5 runs, ≥2 drivers) each got an evidence file and an individual AI-analyst verdict.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02A2E"/>
                </a:solidFill>
                <a:latin typeface="Cambria"/>
              </a:rPr>
              <a:t>Verdicts vs the plan's routes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F6E56"/>
                </a:solidFill>
                <a:latin typeface="Cambria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414016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MATCH the plan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same corridor, same terminals — e.g. Soura–Lal Chowk = FDR-050 (211 runs)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28415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38144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D97706"/>
                </a:solidFill>
                <a:latin typeface="Cambr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456432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geometry diverges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buses observably run a different alignment than the routed line → reconciliation 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70831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80559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5B6B6B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498847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outside Kashmir Division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NH-44 / Jammu traffic — correctly excluded by the district clip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13247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22975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5B6B6B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541263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data artifact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near-stationary terminal idling; excluded and the filter 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286000"/>
            <a:ext cx="4160520" cy="402336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514600"/>
            <a:ext cx="3611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informal / unpermitted routes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C9E2D8"/>
                </a:solidFill>
                <a:latin typeface="Calibri"/>
              </a:rPr>
              <a:t>An early “under-permitted cluster” finding was RETRACTED after checking the raw 614-permit register — those areas are heavily permitted. The honest signal is geometry divergence, not illegal operation.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9FBFB3"/>
                </a:solidFill>
                <a:latin typeface="Calibri"/>
              </a:rPr>
              <a:t>The audit trail (verdict + correction per corridor) ships with the repo.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THE OVERLAY EVIDENCE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Observed corridor (green) laid over the plan's candidate routes</a:t>
            </a:r>
          </a:p>
        </p:txBody>
      </p:sp>
      <p:pic>
        <p:nvPicPr>
          <p:cNvPr id="4" name="Picture 3" descr="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4892040" cy="4892040"/>
          </a:xfrm>
          <a:prstGeom prst="rect">
            <a:avLst/>
          </a:prstGeom>
        </p:spPr>
      </p:pic>
      <p:pic>
        <p:nvPicPr>
          <p:cNvPr id="5" name="Picture 4" descr="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63040"/>
            <a:ext cx="48920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8251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0F6E56"/>
                </a:solidFill>
                <a:latin typeface="Calibri"/>
              </a:rPr>
              <a:t>C1 — a MATCH: 211 observed runs ride exactly on permit FDR-050 (Soura–Lal Chowk).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638251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D97706"/>
                </a:solidFill>
                <a:latin typeface="Calibri"/>
              </a:rPr>
              <a:t>C2 — a DIVERGENCE: 150 real runs (green) vs the routed lines — the alignment to reconcile.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3 — MEASUREMENT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The first measured bus speeds for Srinagar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Not modelled, not assumed — computed from consecutive GPS fixes of buses in revenue service.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21 km/h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moving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median while the bus is in 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12.5 km/h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effective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including every service 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37%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of run time at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boarding + waiting dwell share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17 vs 24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core vs periphery km/h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10,600-cell congestion heatmap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649224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138928"/>
            <a:ext cx="60350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02A2E"/>
                </a:solidFill>
                <a:latin typeface="Calibri"/>
              </a:rPr>
              <a:t>Why it matters: the engine's drive times come from a CAR model (55–137 km/h “free flow” here). This layer replaces that assumption with measurement — per 100 m cell, per corridor.</a:t>
            </a:r>
          </a:p>
        </p:txBody>
      </p:sp>
      <p:pic>
        <p:nvPicPr>
          <p:cNvPr id="14" name="Picture 13" descr="speed_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640342" cy="4983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60920" y="6437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Measured speed per cell — red = congested crawl.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4 — OPERATIONS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What a driver's day actually looks like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855 measured driver-days — duty spans, utilisation, terminal turnarounds and the shape of the service 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7.9 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duty-day span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4.8 h of it in service = 76% utilisation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24 min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median terminal turn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door-to-door incl. layover (n=1,178)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10:20–18:15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the typical service day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ramps from 8:00, peaks 14:00–17:00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~19:00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service collapses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the observed fleet stops by evening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55680" cy="196596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22191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F6E56"/>
                </a:solidFill>
                <a:latin typeface="Cambria"/>
              </a:rPr>
              <a:t>Two operational takeaways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1.  Evening service is the gap. Measured in-service time collapses after ~19:00 across the observed fleet — an enforced-headway evening tier would be a visible, cheap service win.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2.  The 24-minute turn is what schedulers must plan for. It includes waiting-to-fill, so a scheduled service can beat it — but any timetable assuming near-zero recovery is fiction.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CLOSING THE LOOP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Measurement corrected the plan: v3.4.5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Five plan routes were confidently matched to observed corridors — enough evidence to re-anchor their cycle times to measured bus physics.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02A2E"/>
                </a:solidFill>
                <a:latin typeface="Cambria"/>
              </a:rPr>
              <a:t>Planned one-way time ÷ measured one-way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0280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500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Lal Chowk (FDR-050)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211 runs observed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386584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86584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5 →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4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1363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Railway Stn (FDR-262)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93 runs observed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7296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7296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13048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2277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Srinagar – Pampore (FDR-370)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79 runs observed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59352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9593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9432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Qamarwari (FDR-270)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47 runs observed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4573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74573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5816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9554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Safakadal – Jehangir Chowk (FDR-575)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40 runs observed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53212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5321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3 →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1783080"/>
            <a:ext cx="4160520" cy="443484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01168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What was hiding it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D5E8DF"/>
                </a:solidFill>
                <a:latin typeface="Calibri"/>
              </a:rPr>
              <a:t>4 of the 5 routes were pinned at the engine's per-km cycle CAP — a safety heuristic that quietly clamped their cycle times below what buses measurably need.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D5E8DF"/>
                </a:solidFill>
                <a:latin typeface="Calibri"/>
              </a:rPr>
              <a:t>The fix: on directly-measured corridors, the measured moving speed replaces the car-model estimate, and the cap no longer clamps. Only those 5 routes changed.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Fleet 1,004 → 1,011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FBFB3"/>
                </a:solidFill>
                <a:latin typeface="Calibri"/>
              </a:rPr>
              <a:t>+7 buses, all on GPS-verified core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BONUS LAYER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An evidence-based stop inventory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Every 40 s – 12 min dwell is a vote for a real stopping place. Clustered, they map where buses actually stop.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352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candidate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from 38,431 observed dwell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strong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≥3 distinct drivers and ≥10 visits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30%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register corroboration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of official stops in the observed footprint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enrichment candidates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observed stops the register doesn't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649224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120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6E56"/>
                </a:solidFill>
                <a:latin typeface="Cambria"/>
              </a:rPr>
              <a:t>Enrichment, not indictment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02A2E"/>
                </a:solidFill>
                <a:latin typeface="Calibri"/>
              </a:rPr>
              <a:t>The register is endpoint-oriented, so mid-route stops are “new” by construction. Each candidate ships with coordinates, visits and driver support — ready for field validation.</a:t>
            </a:r>
          </a:p>
        </p:txBody>
      </p:sp>
      <p:pic>
        <p:nvPicPr>
          <p:cNvPr id="14" name="Picture 13" descr="stops_vs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417320"/>
            <a:ext cx="4975487" cy="4983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69480" y="643737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Register (blue) vs observed stops — red = candidates.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SECOND HARVEST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The whole valley, recovered from broken fragments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Long-haul runs exist only as fragments (the app gets toggled mid-journey) — so fragments now vote for road-km instead of whole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172 / 186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plan routes evidenced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≥50% of alignment driven, ≥2 drivers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59 km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Anantnag–Srinagar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100% driven · 367 fragments · 24 drivers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64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Tier-2 rural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Anantnag 7 · Pulwama 7 · Ganderbal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7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honest gaps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little app data: Shopian/Kulgam + far NW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649224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138928"/>
            <a:ext cx="60350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02A2E"/>
                </a:solidFill>
                <a:latin typeface="Calibri"/>
              </a:rPr>
              <a:t>Caveat on every popup: this is ROAD-level evidence (“buses drive this alignment”) — not proof a specific permit operates end-to-end. Parallel routes share segment evidence.</a:t>
            </a:r>
          </a:p>
        </p:txBody>
      </p:sp>
      <p:pic>
        <p:nvPicPr>
          <p:cNvPr id="14" name="Picture 13" descr="route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503283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FC8AF"/>
                </a:solidFill>
                <a:latin typeface="Calibri"/>
              </a:rPr>
              <a:t>READ BEFORE CITING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Cambria"/>
              </a:rPr>
              <a:t>What this data cannot tell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Partial, self-selected adoption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~157 active drivers, Srinagar-concentrated. “No app data on a route” does NOT mean “no service”.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69464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60904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No demand, no ridership, no frequency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 app sees vehicles, not passengers. Observed run counts reflect who installed the app — never cited as service frequency.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38728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Corridors cover 41% of clean runs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 other 59% was decomposed and shown to be noise, loops and out-of-division traffic — but the corridor findings describe the frequently-driven core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07992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99431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Observed times are an upper bound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They embody informal wait-to-fill practice; a scheduled, headway-enforced service should beat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77256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68696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Rural routes remain unvalidated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Measured corrections touch 5 Srinagar-core corridors; long rural lifeline cycle times still rest on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SUMMARY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A validation layer the plan didn't have before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Verified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7 plan routes confirmed corridor-level + 172 of 186 evidenced at road level from fragments; 8 geometry divergences queued; 0 informal routes.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723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Measured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First real bus speeds (21 / 12.5 km/h), duty cycles, 24-min turnarounds and a 10,600-cell congestion map for Srinagar.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976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439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Corrected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5 GPS-verified corridors re-anchored to measured physics → plan v3.4.5 (1,011 buses), with the audit trail published.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3977639" cy="288036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783080"/>
            <a:ext cx="342900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To make this decisive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1.  Broader driver adoption — every new driver hardens every layer.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2.  The RTO's surveyed stop register — to confirm the 135 candidates.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3.  AFC / ticketing data — the missing demand half no GPS can supply.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Repo: github.com/Princu-Babu/bus-sathi-trace-intelligence  ·  full method, audit log and reality-check tables committed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