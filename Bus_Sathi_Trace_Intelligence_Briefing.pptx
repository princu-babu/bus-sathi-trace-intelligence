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424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FC8AF"/>
                </a:solidFill>
                <a:latin typeface="Calibri"/>
              </a:rPr>
              <a:t>BUS SATHI  ·  TRACE INTELLIGENCE</a:t>
            </a:r>
          </a:p>
          <a:p>
            <a:pPr algn="l"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Ground-Truthing the Kashmir Plan
with Real Driver GPS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What 3.8 million real GPS points from working bus drivers verified, measured,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D5E8DF"/>
                </a:solidFill>
                <a:latin typeface="Calibri"/>
              </a:rPr>
              <a:t>and corrected in the route-rationalisation plan — and what they honestly cannot tell 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06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9FBFB3"/>
                </a:solidFill>
                <a:latin typeface="Calibri"/>
              </a:rPr>
              <a:t>Kashmir Valley Route Rationalisation  ·  companion to plan v3.4.5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THE RAW MATERIAL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Every 5 seconds, a real bus told us where it was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The Bus Sathi Android app (published on Google Play) logs a driver's position every ~5 s into Firebase.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180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volunteer drivers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self-registered via the public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3.8M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GPS points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~5-second sampling, Feb–Jun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1,213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recorded sessions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one session = hours of a working 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131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observed days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weekday + weekend 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61188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02A2E"/>
                </a:solidFill>
                <a:latin typeface="Cambria"/>
              </a:rPr>
              <a:t>The catch: a recorded “trip” is NOT a bus trip.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B6B6B"/>
                </a:solidFill>
                <a:latin typeface="Calibri"/>
              </a:rPr>
              <a:t>Drivers leave the app running in the background — one session bundles 3–10 real service runs plus hours of parking, meals and wandering. Used naively, this data gives absurd timings. So nothing is used raw.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800600"/>
            <a:ext cx="11155680" cy="141732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Privacy by construction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Driver identities are SHA-256 hashed in every derived file; raw traces and credentials never leave the private data store; only aggregate, anonymised layers are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1 — CLEANING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From messy sessions to honest service runs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A dwell/gap segmenter cuts each session at terminals (≥12 min stationary) and app gaps (≥8 min), then trims idle heads and tails.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2,526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real service runs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extracted from 1,200 sessions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2,012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idle time removed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parking / breaks / background noise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63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real run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vs 209 min raw session wall-time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13.3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km/h median run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realistic city-bus pace → sanity check passed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2A2E"/>
                </a:solidFill>
                <a:latin typeface="Calibri"/>
              </a:rPr>
              <a:t>Then every run is snapped to the road network (OSRM map-matching) and quality-gated: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60520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2,519 / 2,526 runs matched to roads   </a:t>
            </a:r>
            <a:r>
              <a:rPr sz="1250">
                <a:solidFill>
                  <a:srgbClr val="5B6B6B"/>
                </a:solidFill>
                <a:latin typeface="Calibri"/>
              </a:rPr>
              <a:t>raw-vs-matched length agreement used as the gate — median 0.99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01768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2,426 runs pass as “clean”   </a:t>
            </a:r>
            <a:r>
              <a:rPr sz="1250">
                <a:solidFill>
                  <a:srgbClr val="5B6B6B"/>
                </a:solidFill>
                <a:latin typeface="Calibri"/>
              </a:rPr>
              <a:t>these are the only runs any downstream claim is built 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43016"/>
            <a:ext cx="11155680" cy="713232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38,431 stop-dwell events kept   </a:t>
            </a:r>
            <a:r>
              <a:rPr sz="1250">
                <a:solidFill>
                  <a:srgbClr val="5B6B6B"/>
                </a:solidFill>
                <a:latin typeface="Calibri"/>
              </a:rPr>
              <a:t>each 40 s – 12 min stop becomes evidence for the stop inventory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2 — VERIFICATION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18 observed corridors, each judged one by one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Endpoint clustering (≥3 distinct drivers per terminal) grouped the clean runs into 25 corridors; the 18 with real support (≥5 runs, ≥2 drivers) each got an evidence file and an individual AI-analyst verdict.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02A2E"/>
                </a:solidFill>
                <a:latin typeface="Cambria"/>
              </a:rPr>
              <a:t>Verdicts vs the plan's routes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0F6E56"/>
                </a:solidFill>
                <a:latin typeface="Cambr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414016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MATCH the plan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same corridor, same terminals — e.g. Soura–Lal Chowk = FDR-050 (211 runs)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28415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438144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D97706"/>
                </a:solidFill>
                <a:latin typeface="Cambr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456432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geometry diverges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buses observably run a different alignment than the routed line → reconciliation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70831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80559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498847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outside Kashmir Division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NH-44 / Jammu traffic — correctly excluded by the district clip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13247"/>
            <a:ext cx="6720840" cy="91440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22975"/>
            <a:ext cx="822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5B6B6B"/>
                </a:solidFill>
                <a:latin typeface="Cambr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5541263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102A2E"/>
                </a:solidFill>
                <a:latin typeface="Calibri"/>
              </a:rPr>
              <a:t>data artifact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B6B6B"/>
                </a:solidFill>
                <a:latin typeface="Calibri"/>
              </a:rPr>
              <a:t>near-stationary terminal idling; excluded and the filter fixed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286000"/>
            <a:ext cx="4160520" cy="4023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514600"/>
            <a:ext cx="3611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0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informal / unpermitted routes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C9E2D8"/>
                </a:solidFill>
                <a:latin typeface="Calibri"/>
              </a:rPr>
              <a:t>An early “under-permitted cluster” finding was RETRACTED after checking the raw 614-permit register — those areas are heavily permitted. The honest signal is geometry divergence, not illegal operation.</a:t>
            </a:r>
          </a:p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9FBFB3"/>
                </a:solidFill>
                <a:latin typeface="Calibri"/>
              </a:rPr>
              <a:t>The audit trail (verdict + correction per corridor) ships with the repo.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3 — MEASUREMENT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The first measured bus speeds for Srinagar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Not modelled, not assumed — computed from consecutive GPS fixes of buses in revenue service.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moving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median while the bus is in 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12.5 km/h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effective speed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including every service 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37%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of run time at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boarding + waiting dwell share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17 vs 24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core vs periphery km/h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10,600-cell congestion heatmap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661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2A2E"/>
                </a:solidFill>
                <a:latin typeface="Calibri"/>
              </a:rPr>
              <a:t>Why this matters to the plan: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69080"/>
            <a:ext cx="11155680" cy="155448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The engine estimates drive time from OSRM's car profile — which implies 55–137 km/h “free flow” on these roads. Its congestion penalties close much of that gap, but a car model can never know how a crowded 9-metre bus actually moves through Batamaloo at 5 pm.</a:t>
            </a:r>
          </a:p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0F6E56"/>
                </a:solidFill>
                <a:latin typeface="Calibri"/>
              </a:rPr>
              <a:t>This layer replaces assumption with measurement — per 100 m grid cell, per corridor, per hour.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STEP 4 — OPERATIONS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What a driver's day actually looks like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855 measured driver-days — duty spans, utilisation, terminal turnarounds and the shape of the service 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7.9 h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duty-day span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4.8 h of it in service = 76% utilisation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24 min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median terminal turn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door-to-door incl. layover (n=1,178)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10:20–18:15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the typical service day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ramps from 8:00, peaks 14:00–17:00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~19:00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service collapses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the observed fleet stops by evening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55680" cy="196596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22191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F6E56"/>
                </a:solidFill>
                <a:latin typeface="Cambria"/>
              </a:rPr>
              <a:t>Two operational takeaways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1.  Evening service is the gap. Measured in-service time collapses after ~19:00 across the observed fleet — an enforced-headway evening tier would be a visible, cheap service win.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2.  The 24-minute turn is what schedulers must plan for. It includes waiting-to-fill, so a scheduled service can beat it — but any timetable assuming near-zero recovery is fiction.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CLOSING THE LOOP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Measurement corrected the plan: v3.4.5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Five plan routes were confidently matched to observed corridors — enough evidence to re-anchor their cycle times to measured bus physics.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102A2E"/>
                </a:solidFill>
                <a:latin typeface="Cambria"/>
              </a:rPr>
              <a:t>Planned one-way time ÷ measured one-way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50008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Lal Chowk (FDR-050)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211 runs observed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386584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865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5 →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026664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136392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Railway Stn (FDR-262)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93 runs observed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17296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17296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13048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22776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Srinagar – Pampore (FDR-370)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79 runs observed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959352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395935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99432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Soura – Qamarwari (FDR-270)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47 runs observed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4573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745736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4 →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385816"/>
            <a:ext cx="6675120" cy="67665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95544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2A2E"/>
                </a:solidFill>
                <a:latin typeface="Calibri"/>
              </a:rPr>
              <a:t>Safakadal – Jehangir Chowk (FDR-575)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40 runs observed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553212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B0432F"/>
                </a:solidFill>
                <a:latin typeface="Cambria"/>
              </a:rPr>
              <a:t>0.47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53212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F6E56"/>
                </a:solidFill>
                <a:latin typeface="Calibri"/>
              </a:rPr>
              <a:t>3 →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1783080"/>
            <a:ext cx="4160520" cy="443484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011680"/>
            <a:ext cx="36118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What was hiding it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4 of the 5 routes were pinned at the engine's per-km cycle CAP — a safety heuristic that quietly clamped their cycle times below what buses measurably need.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D5E8DF"/>
                </a:solidFill>
                <a:latin typeface="Calibri"/>
              </a:rPr>
              <a:t>The fix: on directly-measured corridors, the measured moving speed replaces the car-model estimate, and the cap no longer clamps. Only those 5 routes changed.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Fleet 1,004 → 1,011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9FBFB3"/>
                </a:solidFill>
                <a:latin typeface="Calibri"/>
              </a:rPr>
              <a:t>+7 buses, all on GPS-verified core corridors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BONUS LAYER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An evidence-based stop inventory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B6B"/>
                </a:solidFill>
                <a:latin typeface="Calibri"/>
              </a:rPr>
              <a:t>Every 40 s – 12 min dwell is a vote for a real stopping place. Clustered, they map where buses actually stop.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7512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352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candidate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from 38,431 observed dwell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30168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215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strong stops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≥3 distinct drivers and ≥10 visits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28232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2824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30%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register corroboration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of official stops in the observed footprint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90888" y="1691640"/>
            <a:ext cx="2615184" cy="1481328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5480" y="1819656"/>
            <a:ext cx="2286000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0F6E56"/>
                </a:solidFill>
                <a:latin typeface="Cambria"/>
              </a:rPr>
              <a:t>135</a:t>
            </a:r>
          </a:p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02A2E"/>
                </a:solidFill>
                <a:latin typeface="Calibri"/>
              </a:rPr>
              <a:t>enrichment candidates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B6B"/>
                </a:solidFill>
                <a:latin typeface="Calibri"/>
              </a:rPr>
              <a:t>observed stops the register doesn't list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11880"/>
            <a:ext cx="11155680" cy="2011680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22191"/>
            <a:ext cx="1060704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0F6E56"/>
                </a:solidFill>
                <a:latin typeface="Cambria"/>
              </a:rPr>
              <a:t>Framed honestly: enrichment, not indictment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The official register is endpoint-oriented — mid-route stops are “new” by construction, so 135 candidates doesn't mean 135 missing stops. It means the GPS fills exactly the gap the RTO's P0 data-ask (a surveyed stop register) was meant to close.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102A2E"/>
                </a:solidFill>
                <a:latin typeface="Calibri"/>
              </a:rPr>
              <a:t>Each candidate ships with coordinates, visit counts and distinct-driver support — ready for field 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111556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7FC8AF"/>
                </a:solidFill>
                <a:latin typeface="Calibri"/>
              </a:rPr>
              <a:t>READ BEFORE CITING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FFFFFF"/>
                </a:solidFill>
                <a:latin typeface="Cambria"/>
              </a:rPr>
              <a:t>What this data cannot tell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Partial, self-selected adoption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~157 active drivers, Srinagar-concentrated. “No app data on a route” does NOT mean “no service”.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9464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660904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No demand, no ridership, no frequency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app sees vehicles, not passengers. Observed run counts reflect who installed the app — never cited as service frequency.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38728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Corridors cover 41% of clean runs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 other 59% was decomposed and shown to be noise, loops and out-of-division traffic — but the corridor findings describe the frequently-driven core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07992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599431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Observed times are an upper bound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They embody informal wait-to-fill practice; a scheduled, headway-enforced service should beat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77256"/>
            <a:ext cx="11155680" cy="841248"/>
          </a:xfrm>
          <a:prstGeom prst="roundRect">
            <a:avLst>
              <a:gd name="adj" fmla="val 6000"/>
            </a:avLst>
          </a:prstGeom>
          <a:solidFill>
            <a:srgbClr val="0E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68696"/>
            <a:ext cx="106070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Rural routes remain unvalidated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C9E2D8"/>
                </a:solidFill>
                <a:latin typeface="Calibri"/>
              </a:rPr>
              <a:t>Measured corrections touch 5 Srinagar-core corridors; long rural lifeline cycle times still rest on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E56"/>
                </a:solidFill>
                <a:latin typeface="Calibri"/>
              </a:rPr>
              <a:t>SUMMARY</a:t>
            </a:r>
          </a:p>
          <a:p>
            <a:pPr algn="l">
              <a:spcAft>
                <a:spcPts val="200"/>
              </a:spcAft>
            </a:pPr>
            <a:r>
              <a:rPr sz="3100" b="1" i="0">
                <a:solidFill>
                  <a:srgbClr val="102A2E"/>
                </a:solidFill>
                <a:latin typeface="Cambria"/>
              </a:rPr>
              <a:t>A validation layer the plan didn't have before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Verified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7 plan routes confirmed running in reality; 8 geometry divergences queued for reconciliation; 0 informal routes.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0723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Measured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First real bus speeds (21 / 12.5 km/h), duty cycles, 24-min turnarounds and a 10,600-cell congestion map for Srinagar.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97680"/>
            <a:ext cx="6858000" cy="1225296"/>
          </a:xfrm>
          <a:prstGeom prst="roundRect">
            <a:avLst>
              <a:gd name="adj" fmla="val 6000"/>
            </a:avLst>
          </a:prstGeom>
          <a:solidFill>
            <a:srgbClr val="E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443984"/>
            <a:ext cx="630936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0F6E56"/>
                </a:solidFill>
                <a:latin typeface="Cambria"/>
              </a:rPr>
              <a:t>Corrected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02A2E"/>
                </a:solidFill>
                <a:latin typeface="Calibri"/>
              </a:rPr>
              <a:t>5 GPS-verified corridors re-anchored to measured physics → plan v3.4.5 (1,011 buses), with the audit trail published.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3977639" cy="2880360"/>
          </a:xfrm>
          <a:prstGeom prst="roundRect">
            <a:avLst>
              <a:gd name="adj" fmla="val 6000"/>
            </a:avLst>
          </a:prstGeom>
          <a:solidFill>
            <a:srgbClr val="0A3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783080"/>
            <a:ext cx="3429000" cy="2514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To make this decisive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1.  Broader driver adoption — every new driver hardens every layer.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2.  The RTO's surveyed stop register — to confirm the 135 candidates.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D5E8DF"/>
                </a:solidFill>
                <a:latin typeface="Calibri"/>
              </a:rPr>
              <a:t>3.  AFC / ticketing data — the missing demand half no GPS can supply.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B6B6B"/>
                </a:solidFill>
                <a:latin typeface="Calibri"/>
              </a:rPr>
              <a:t>Repo: github.com/Princu-Babu/bus-sathi-trace-intelligence  ·  full method, audit log and reality-check tables committed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